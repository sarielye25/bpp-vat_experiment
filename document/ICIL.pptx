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307" r:id="rId4"/>
    <p:sldId id="309" r:id="rId5"/>
    <p:sldId id="310" r:id="rId6"/>
    <p:sldId id="311" r:id="rId7"/>
    <p:sldId id="312" r:id="rId8"/>
    <p:sldId id="314" r:id="rId9"/>
    <p:sldId id="315" r:id="rId10"/>
    <p:sldId id="313" r:id="rId11"/>
    <p:sldId id="316" r:id="rId12"/>
    <p:sldId id="317" r:id="rId13"/>
    <p:sldId id="301" r:id="rId14"/>
    <p:sldId id="305" r:id="rId15"/>
    <p:sldId id="306" r:id="rId16"/>
    <p:sldId id="320" r:id="rId17"/>
    <p:sldId id="318" r:id="rId18"/>
    <p:sldId id="319" r:id="rId19"/>
    <p:sldId id="269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鑫儒 崔" initials="鑫崔" lastIdx="1" clrIdx="0">
    <p:extLst>
      <p:ext uri="{19B8F6BF-5375-455C-9EA6-DF929625EA0E}">
        <p15:presenceInfo xmlns:p15="http://schemas.microsoft.com/office/powerpoint/2012/main" userId="49f3b362f1da8f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300"/>
    <a:srgbClr val="FFFDF3"/>
    <a:srgbClr val="F7C07F"/>
    <a:srgbClr val="FBDFBD"/>
    <a:srgbClr val="E7F6FF"/>
    <a:srgbClr val="FFFFFF"/>
    <a:srgbClr val="E9D3E7"/>
    <a:srgbClr val="E0C2DE"/>
    <a:srgbClr val="D7CBD6"/>
    <a:srgbClr val="B1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24" autoAdjust="0"/>
    <p:restoredTop sz="89973" autoAdjust="0"/>
  </p:normalViewPr>
  <p:slideViewPr>
    <p:cSldViewPr snapToGrid="0" showGuides="1">
      <p:cViewPr>
        <p:scale>
          <a:sx n="104" d="100"/>
          <a:sy n="104" d="100"/>
        </p:scale>
        <p:origin x="432" y="400"/>
      </p:cViewPr>
      <p:guideLst>
        <p:guide pos="304"/>
        <p:guide pos="7368"/>
        <p:guide orient="horz" pos="47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D8F6F-08AB-422E-BF07-88B099000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68DE6F-6712-4B07-97EE-B9935CF4B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2831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A7FF2-BE51-489D-AA15-0DD2A6AA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AF0AD-2601-4F52-BC4F-A9D4D9D4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749F1-FE75-45FB-95A9-1B839DBA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47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0259C-CF72-49AD-8FAD-12AB6C7F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9AC4F-B399-41E7-8954-866E1E09B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6E20B4-2A29-48CF-9837-10F7757FB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3033B-76E7-4F25-BE95-E084E516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84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C42F6-7BC7-4B9F-8BBD-23FE1B41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904565-16B3-4AD3-A820-2CF381E5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59F35C-A224-4CAC-B5E9-C90ECF49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F5DC01-F74D-4510-A748-035E31EE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9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A9B5E-1179-424A-9D9B-043584A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32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5496D6-6340-4D75-9F6E-2AC17D25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487" y="124511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04680-DAF3-4C26-8CDB-11093A40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61E0390-630C-4AF6-B2A1-6CE666C986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5B8AD57-3ED2-4C7E-9BB6-F795E9E53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798BBCA-0550-45C6-83EF-598917E1E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3F4C893-2E4D-4A9C-86FD-B9EDA4C97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F8F84A4-4AD1-4390-B825-8EC49D559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5DFD183-1292-41BB-9BDC-ECBBD4B8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09C3DEC-F3BB-4AF0-B11E-6BBC533AB3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C666E8-3466-463B-9D25-1D3FCF01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412CCBF-2E1F-484A-940E-661EEB08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E8933D4-46F7-4EEA-AD4A-772D621DA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F0392651-136F-460B-8757-9712E2A1A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796342C-43B6-4877-9B27-1BDD985BE305}"/>
              </a:ext>
            </a:extLst>
          </p:cNvPr>
          <p:cNvCxnSpPr>
            <a:cxnSpLocks/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955CB-EC17-48B8-A220-C747B5928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accent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D4CFA3CA-C185-8872-6C4C-6C6993F64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5" t="41855" r="66308" b="43702"/>
          <a:stretch/>
        </p:blipFill>
        <p:spPr>
          <a:xfrm>
            <a:off x="118081" y="-53974"/>
            <a:ext cx="924558" cy="7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72" userDrawn="1">
          <p15:clr>
            <a:srgbClr val="F26B43"/>
          </p15:clr>
        </p15:guide>
        <p15:guide id="4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19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5.mp4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72321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98B8C6-F215-45FF-AAC2-618BECF6E5E9}"/>
              </a:ext>
            </a:extLst>
          </p:cNvPr>
          <p:cNvSpPr/>
          <p:nvPr/>
        </p:nvSpPr>
        <p:spPr>
          <a:xfrm>
            <a:off x="0" y="730375"/>
            <a:ext cx="12192002" cy="2401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文本&#10;&#10;中度可信度描述已自动生成">
            <a:extLst>
              <a:ext uri="{FF2B5EF4-FFF2-40B4-BE49-F238E27FC236}">
                <a16:creationId xmlns:a16="http://schemas.microsoft.com/office/drawing/2014/main" id="{67DA68BC-C228-14E5-667A-347EBACCA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6304948"/>
            <a:ext cx="1706880" cy="56112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7FE1F2E-C3BE-089B-4055-CBCEA59B23DC}"/>
              </a:ext>
            </a:extLst>
          </p:cNvPr>
          <p:cNvSpPr txBox="1"/>
          <p:nvPr/>
        </p:nvSpPr>
        <p:spPr>
          <a:xfrm>
            <a:off x="10114357" y="6423221"/>
            <a:ext cx="195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irmv.sjtu.edu.cn</a:t>
            </a:r>
          </a:p>
        </p:txBody>
      </p:sp>
      <p:pic>
        <p:nvPicPr>
          <p:cNvPr id="19" name="图片 18" descr="文本&#10;&#10;描述已自动生成">
            <a:extLst>
              <a:ext uri="{FF2B5EF4-FFF2-40B4-BE49-F238E27FC236}">
                <a16:creationId xmlns:a16="http://schemas.microsoft.com/office/drawing/2014/main" id="{0E0111A7-FA2E-B5C2-4854-F73F17990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46" y="6005699"/>
            <a:ext cx="3412754" cy="1137584"/>
          </a:xfrm>
          <a:prstGeom prst="rect">
            <a:avLst/>
          </a:prstGeom>
        </p:spPr>
      </p:pic>
      <p:sp>
        <p:nvSpPr>
          <p:cNvPr id="24" name="标题 23">
            <a:extLst>
              <a:ext uri="{FF2B5EF4-FFF2-40B4-BE49-F238E27FC236}">
                <a16:creationId xmlns:a16="http://schemas.microsoft.com/office/drawing/2014/main" id="{A64820A7-90D2-2027-0B88-CB323D187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ICIL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831E3E-7F48-B60F-B8FB-DE76D0DC376D}"/>
              </a:ext>
            </a:extLst>
          </p:cNvPr>
          <p:cNvSpPr txBox="1"/>
          <p:nvPr/>
        </p:nvSpPr>
        <p:spPr>
          <a:xfrm>
            <a:off x="3975734" y="3801142"/>
            <a:ext cx="424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/>
              <a:t>吴毅昕</a:t>
            </a:r>
          </a:p>
        </p:txBody>
      </p:sp>
    </p:spTree>
    <p:extLst>
      <p:ext uri="{BB962C8B-B14F-4D97-AF65-F5344CB8AC3E}">
        <p14:creationId xmlns:p14="http://schemas.microsoft.com/office/powerpoint/2010/main" val="255481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9723-BB62-60C5-6310-B212B3D9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00963-4D05-5437-6AA0-4CB4418D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F80FAA-DCD9-7B2C-D9A3-CC646063F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背景：现有机器人模仿学习策略，部署阶段绝大多数以视觉作为输入，有的也包含语言指令，然后输出机器人动作。以目标任务动作本身作为输入的方法较少。</a:t>
                </a:r>
                <a:endParaRPr lang="en-US" altLang="zh-CN" dirty="0"/>
              </a:p>
              <a:p>
                <a:r>
                  <a:rPr lang="zh-CN" altLang="en-US" dirty="0"/>
                  <a:t>以任务为中心的模仿学习策略迁移任务成本高昂，需要重新采集数据训练</a:t>
                </a:r>
                <a:endParaRPr lang="en-US" altLang="zh-CN" dirty="0"/>
              </a:p>
              <a:p>
                <a:r>
                  <a:rPr lang="en-US" altLang="zh-CN" dirty="0"/>
                  <a:t>VLA</a:t>
                </a:r>
                <a:r>
                  <a:rPr lang="zh-CN" altLang="en-US" dirty="0"/>
                  <a:t>范式本身训练部署成本高，且语言指令或许不足以描述长序，高维的连续任务表示。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是否存在高效的方法，不用重新训练模型来迁移到新的任务？：可以用示教作为输入来引导机器人完成任务。</a:t>
                </a:r>
                <a:endParaRPr lang="en-US" altLang="zh-CN" dirty="0"/>
              </a:p>
              <a:p>
                <a:r>
                  <a:rPr lang="zh-CN" altLang="en-US" dirty="0"/>
                  <a:t>范式如下：预训练模型，部署时学习任务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 ⋅∣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task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F80FAA-DCD9-7B2C-D9A3-CC646063F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1" t="-1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6F9C7F-6BEC-8D75-02FA-0C68A8F1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35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C303-926C-F285-09A5-48EDB9F8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F0924-9E35-1598-EF0F-E79DABAA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C79AC3-F3A8-29B0-5B5B-AD3C7995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我的问题定义是：</a:t>
            </a:r>
            <a:r>
              <a:rPr lang="en" altLang="zh-CN" dirty="0"/>
              <a:t>visuomotor</a:t>
            </a:r>
            <a:r>
              <a:rPr lang="zh-CN" altLang="zh-CN" dirty="0"/>
              <a:t>模型，输入为指定任务的一条（可能或几条）示教，运行时学习示教，完成任务。</a:t>
            </a:r>
            <a:br>
              <a:rPr lang="zh-CN" altLang="zh-CN" dirty="0"/>
            </a:br>
            <a:r>
              <a:rPr lang="zh-CN" altLang="zh-CN" dirty="0"/>
              <a:t>我想要研究这样的问题出于一下考量：</a:t>
            </a:r>
          </a:p>
          <a:p>
            <a:pPr lvl="1"/>
            <a:r>
              <a:rPr lang="en" altLang="zh-CN" dirty="0"/>
              <a:t>V</a:t>
            </a:r>
            <a:r>
              <a:rPr lang="en-US" altLang="zh-CN" dirty="0"/>
              <a:t>A imitation</a:t>
            </a:r>
            <a:r>
              <a:rPr lang="zh-CN" altLang="zh-CN" dirty="0"/>
              <a:t>模型，问题描述大多数是，对于每一个任务，单独收集任务数据，然后针对这个任务训练</a:t>
            </a:r>
            <a:r>
              <a:rPr lang="zh-CN" altLang="en-US" dirty="0"/>
              <a:t>。</a:t>
            </a:r>
            <a:r>
              <a:rPr lang="zh-CN" altLang="zh-CN" dirty="0"/>
              <a:t>这样太低效了。数据收集再训练再部署，并且泛化性存疑</a:t>
            </a:r>
          </a:p>
          <a:p>
            <a:pPr lvl="1"/>
            <a:r>
              <a:rPr lang="zh-CN" altLang="zh-CN" dirty="0"/>
              <a:t>当然，现在还有vla</a:t>
            </a:r>
            <a:r>
              <a:rPr lang="en-US" altLang="zh-CN" dirty="0"/>
              <a:t> </a:t>
            </a:r>
            <a:r>
              <a:rPr lang="en-US" altLang="zh-CN" dirty="0" err="1"/>
              <a:t>wam</a:t>
            </a:r>
            <a:r>
              <a:rPr lang="zh-CN" altLang="zh-CN" dirty="0"/>
              <a:t>模型，可以做很多任务，但是有一个问题：vla大多数情况下任务描述是来自语言的，不能很好的管控任务行为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是否存在高效的方法，不用重新训练模型来迁移到新的任务？：可以用示教作为输入来引导机器人完成任务。</a:t>
            </a:r>
            <a:endParaRPr lang="en-US" altLang="zh-CN" dirty="0"/>
          </a:p>
          <a:p>
            <a:pPr lvl="1"/>
            <a:r>
              <a:rPr lang="zh-CN" altLang="en-US" dirty="0"/>
              <a:t>并且基于示教输入的范式本质上不和任何模型架构有关，</a:t>
            </a:r>
            <a:r>
              <a:rPr lang="en-US" altLang="zh-CN" dirty="0" err="1"/>
              <a:t>vla</a:t>
            </a:r>
            <a:r>
              <a:rPr lang="zh-CN" altLang="en-US" dirty="0"/>
              <a:t>也可以用这样的范式（添加示教输入学习）</a:t>
            </a:r>
            <a:endParaRPr lang="zh-CN" altLang="zh-CN" dirty="0"/>
          </a:p>
          <a:p>
            <a:pPr lvl="1"/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87C36A-9042-7D96-3777-4025DE8B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60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79B7-32AC-0727-3000-8546C4FE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BE1A0-B2FB-8DF0-2332-94EB00EB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F1F2A-D9F3-47F4-BFAE-C5730D0D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本质上也是一种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shot</a:t>
            </a:r>
            <a:r>
              <a:rPr lang="zh-CN" altLang="en-US" dirty="0"/>
              <a:t> </a:t>
            </a:r>
            <a:r>
              <a:rPr lang="en-US" altLang="zh-CN" dirty="0"/>
              <a:t>imitation</a:t>
            </a:r>
            <a:r>
              <a:rPr lang="zh-CN" altLang="en-US" dirty="0"/>
              <a:t>  调研：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84158-F59C-94A8-9C29-337C1E89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F49CB9C-8484-C3D1-3530-C2AD20979108}"/>
              </a:ext>
            </a:extLst>
          </p:cNvPr>
          <p:cNvSpPr/>
          <p:nvPr/>
        </p:nvSpPr>
        <p:spPr>
          <a:xfrm>
            <a:off x="1541163" y="2479429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 Augmentation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D8B4BF3-50CD-5B61-FB4A-C4F595A38FC9}"/>
              </a:ext>
            </a:extLst>
          </p:cNvPr>
          <p:cNvSpPr/>
          <p:nvPr/>
        </p:nvSpPr>
        <p:spPr>
          <a:xfrm>
            <a:off x="1541163" y="4366227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Visual Servo</a:t>
            </a:r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5F42CBB-8AE1-4B33-4246-126F63E94E81}"/>
              </a:ext>
            </a:extLst>
          </p:cNvPr>
          <p:cNvSpPr/>
          <p:nvPr/>
        </p:nvSpPr>
        <p:spPr>
          <a:xfrm>
            <a:off x="7377301" y="2479429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Formal ICIL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CFCA20B-D8BA-2E0B-FF71-53DE33D7DBDF}"/>
              </a:ext>
            </a:extLst>
          </p:cNvPr>
          <p:cNvSpPr/>
          <p:nvPr/>
        </p:nvSpPr>
        <p:spPr>
          <a:xfrm>
            <a:off x="7377301" y="4429396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ICIL as Concept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5335A23-3211-D1EE-A5B3-C14D8028DB67}"/>
              </a:ext>
            </a:extLst>
          </p:cNvPr>
          <p:cNvSpPr/>
          <p:nvPr/>
        </p:nvSpPr>
        <p:spPr>
          <a:xfrm>
            <a:off x="4372706" y="3416657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Strong Priori Based</a:t>
            </a:r>
            <a:endParaRPr kumimoji="1" lang="zh-CN" altLang="en-US" dirty="0"/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6F858A6F-842D-AF92-D873-E6A7DFC06953}"/>
              </a:ext>
            </a:extLst>
          </p:cNvPr>
          <p:cNvSpPr/>
          <p:nvPr/>
        </p:nvSpPr>
        <p:spPr>
          <a:xfrm>
            <a:off x="984738" y="5896708"/>
            <a:ext cx="10117016" cy="107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71BF76-7BDA-C357-4F6E-A346717FEB51}"/>
              </a:ext>
            </a:extLst>
          </p:cNvPr>
          <p:cNvSpPr txBox="1"/>
          <p:nvPr/>
        </p:nvSpPr>
        <p:spPr>
          <a:xfrm>
            <a:off x="9859108" y="5527376"/>
            <a:ext cx="124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5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A3108-DEAF-EAF0-7C78-18433C40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59A09-2914-B939-5641-364A29FA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5E5066-2815-35BE-EF0D-FD26EEA34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Data Augmentation:</a:t>
            </a:r>
          </a:p>
          <a:p>
            <a:pPr lvl="1"/>
            <a:r>
              <a:rPr lang="zh-CN" altLang="zh-CN" dirty="0"/>
              <a:t>You Only Teach Once: Learn One-Shot Bimanual Robotic Manipulation from Video Demonstrations(RSS 2025)</a:t>
            </a:r>
            <a:endParaRPr lang="en-US" altLang="zh-CN" dirty="0"/>
          </a:p>
          <a:p>
            <a:pPr lvl="1"/>
            <a:r>
              <a:rPr lang="zh-CN" altLang="zh-CN" dirty="0"/>
              <a:t>一次第三人称双目人类双手演示 → 抽取关键位姿 → 增殖数据 → 训练双臂扩散策略</a:t>
            </a:r>
            <a:endParaRPr lang="en-US" altLang="zh-CN" dirty="0"/>
          </a:p>
          <a:p>
            <a:r>
              <a:rPr lang="zh-CN" altLang="en-US" dirty="0"/>
              <a:t>这类范式根本没有解决成本高昂问题</a:t>
            </a:r>
            <a:endParaRPr lang="en-US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A78DA3-D0F7-D094-84DA-118812F9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068860-08A9-E9CF-6CAA-2D22C9D9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395" y="3316764"/>
            <a:ext cx="7949210" cy="35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4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008E4-9D55-BD9E-6441-4FEE66BA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84356-647E-2DD0-28EA-D20E4735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B9367-F351-60EC-A223-9BC8BD4C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Visual Servo</a:t>
            </a:r>
          </a:p>
          <a:p>
            <a:pPr lvl="1"/>
            <a:r>
              <a:rPr lang="zh-CN" altLang="zh-CN" dirty="0"/>
              <a:t>Demonstrate once, imitate immediately (DOME): Learning visual servoing for one-shot imitation learning(IROS2022)</a:t>
            </a:r>
          </a:p>
          <a:p>
            <a:pPr lvl="1"/>
            <a:r>
              <a:rPr lang="zh-CN" altLang="zh-CN" dirty="0"/>
              <a:t>bottle neck pose+回放轨迹</a:t>
            </a:r>
            <a:endParaRPr lang="en-US" altLang="zh-CN" dirty="0"/>
          </a:p>
          <a:p>
            <a:r>
              <a:rPr lang="zh-CN" altLang="en-US" dirty="0"/>
              <a:t>这类范式对几何先验要求太高了，数据处理本身成本也高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509107-E3A7-6682-4D85-960466A6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C9577-9532-D90E-7DFD-7BAC756A2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0" y="3051788"/>
            <a:ext cx="7772400" cy="366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5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B37E-B50A-42D0-2227-F377029D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B32C1-D113-200E-3555-22F1B784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89031-F03F-4B51-643F-9B278111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Strong Priori Based</a:t>
            </a:r>
          </a:p>
          <a:p>
            <a:pPr lvl="1"/>
            <a:r>
              <a:rPr lang="zh-CN" altLang="zh-CN" dirty="0"/>
              <a:t>Instant Policy: In-Context Imitation Learning via Graph Diffusion(2025)</a:t>
            </a:r>
          </a:p>
          <a:p>
            <a:pPr lvl="1"/>
            <a:r>
              <a:rPr lang="zh-CN" altLang="en-US" dirty="0"/>
              <a:t>把 </a:t>
            </a:r>
            <a:r>
              <a:rPr lang="en" altLang="zh-CN" dirty="0"/>
              <a:t>In-Context Imitation Learning </a:t>
            </a:r>
            <a:r>
              <a:rPr lang="zh-CN" altLang="en-US" dirty="0"/>
              <a:t>建模成图上的扩散生成，假设</a:t>
            </a:r>
            <a:r>
              <a:rPr lang="en-US" altLang="zh-CN" dirty="0"/>
              <a:t>object</a:t>
            </a:r>
            <a:r>
              <a:rPr lang="zh-CN" altLang="en-US" dirty="0"/>
              <a:t> </a:t>
            </a:r>
            <a:r>
              <a:rPr lang="en-US" altLang="zh-CN" dirty="0"/>
              <a:t>centric</a:t>
            </a:r>
            <a:r>
              <a:rPr lang="zh-CN" altLang="en-US" dirty="0"/>
              <a:t>，依赖点云以及几何先验</a:t>
            </a:r>
          </a:p>
          <a:p>
            <a:r>
              <a:rPr lang="zh-CN" altLang="en-US" dirty="0"/>
              <a:t>这类范式依然依赖先验以及外部模块性能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92D43-BF76-E4D3-92C9-FDF57B13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CDA887-9658-2F71-D704-C382CB2E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29" y="3165752"/>
            <a:ext cx="7772400" cy="294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3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CD77-E3D7-1911-392A-7161A438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B3E59-A50F-21F9-68A7-EAA79E23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E7A2D3-DC29-4D01-23EA-4441BDE20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ICIL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BPP: Behavior Prompting Policy: Demonstrations as Prompts for Manipulation(2026)</a:t>
            </a:r>
          </a:p>
          <a:p>
            <a:pPr lvl="1"/>
            <a:r>
              <a:rPr lang="en-US" altLang="zh-CN" dirty="0" err="1"/>
              <a:t>Chunk+match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ICRT: I</a:t>
            </a:r>
            <a:r>
              <a:rPr lang="zh-CN" altLang="zh-CN" dirty="0"/>
              <a:t>n-Context Imitation Learning via Next-Token Prediction</a:t>
            </a:r>
            <a:r>
              <a:rPr lang="en-US" altLang="zh-CN" dirty="0"/>
              <a:t>(2025)</a:t>
            </a:r>
          </a:p>
          <a:p>
            <a:pPr lvl="1"/>
            <a:r>
              <a:rPr lang="zh-CN" altLang="en-US" dirty="0"/>
              <a:t>几乎完全照搬</a:t>
            </a:r>
            <a:r>
              <a:rPr lang="en-US" altLang="zh-CN" dirty="0"/>
              <a:t>LLM</a:t>
            </a:r>
            <a:endParaRPr lang="zh-CN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A8B16-A346-5E81-7406-14745CFC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79A4AA-6193-BE1B-1E0A-36E7CD74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54" y="2394100"/>
            <a:ext cx="5705191" cy="15767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2845E0-C932-F39A-5927-B7DAC4004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823457"/>
            <a:ext cx="7772400" cy="155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1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68BED-34BE-2DED-745F-40199D6B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F1420-04F0-E11D-EB9B-B80C831A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B2D31-9FA2-B1A3-CDA7-86FB828F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ICIL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ICLR: In-Context Imitation Learning with Visual Reasoning (IROS 2026)</a:t>
            </a:r>
            <a:endParaRPr lang="en-US" altLang="zh-CN" dirty="0"/>
          </a:p>
          <a:p>
            <a:pPr lvl="1"/>
            <a:r>
              <a:rPr lang="zh-CN" altLang="zh-CN" dirty="0"/>
              <a:t>在 ICRT 架构之上，把视觉推理轨迹（visual reasoning trace）嵌入 prompt 和推理过程，借鉴 LLM 的 chain-of-thought：先"推理"再预测动作。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zh-CN" altLang="zh-CN" dirty="0"/>
              <a:t>HOST: Robots Acquire Manipulation Skills in Seconds from a Single Human Video (2026.8)</a:t>
            </a:r>
            <a:endParaRPr lang="en-US" altLang="zh-CN" dirty="0"/>
          </a:p>
          <a:p>
            <a:pPr lvl="1"/>
            <a:r>
              <a:rPr lang="zh-CN" altLang="en-US" dirty="0"/>
              <a:t>三步走：定位，</a:t>
            </a:r>
            <a:r>
              <a:rPr lang="en-US" altLang="zh-CN" dirty="0" err="1"/>
              <a:t>wm</a:t>
            </a:r>
            <a:r>
              <a:rPr lang="zh-CN" altLang="en-US" dirty="0"/>
              <a:t> 预测，动作输出</a:t>
            </a:r>
            <a:endParaRPr lang="zh-CN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C3461-FB74-16F3-7A6C-68AA7DCF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8FA2D9-33E4-A1FB-8C2C-1CBF5733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010" y="5226957"/>
            <a:ext cx="5291180" cy="16310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949A69-B3A5-401D-E9CD-26721158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74" y="2447062"/>
            <a:ext cx="7615452" cy="17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0E93-48F1-BB96-DB52-46790232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3AAF0-F0F2-51DC-1F99-1DE720C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8F47B-E123-E729-216B-4DF853F5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ICIL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Concept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Zero-WAM: In-Context World-Action Modeling from Human Videos for Open-Ended Task Generalization(2026)</a:t>
            </a:r>
            <a:endParaRPr lang="en-US" altLang="zh-CN" dirty="0"/>
          </a:p>
          <a:p>
            <a:pPr lvl="1"/>
            <a:r>
              <a:rPr lang="en-US" altLang="zh-CN" dirty="0"/>
              <a:t>WAM+ ICIL </a:t>
            </a:r>
            <a:r>
              <a:rPr lang="zh-CN" altLang="en-US" dirty="0"/>
              <a:t>模块（</a:t>
            </a:r>
            <a:r>
              <a:rPr lang="en-US" altLang="zh-CN" dirty="0"/>
              <a:t>IFP</a:t>
            </a:r>
            <a:r>
              <a:rPr lang="zh-CN" altLang="en-US" dirty="0"/>
              <a:t>）：</a:t>
            </a:r>
            <a:r>
              <a:rPr lang="zh-CN" altLang="zh-CN" dirty="0"/>
              <a:t>近处未来（i+1）由</a:t>
            </a:r>
            <a:r>
              <a:rPr lang="zh-CN" altLang="zh-CN" b="1" dirty="0"/>
              <a:t>视觉连续性</a:t>
            </a:r>
            <a:r>
              <a:rPr lang="zh-CN" altLang="zh-CN" dirty="0"/>
              <a:t>决定 → 对任务身份零信息量 → 无压力；远处未来由</a:t>
            </a:r>
            <a:r>
              <a:rPr lang="zh-CN" altLang="zh-CN" b="1" dirty="0"/>
              <a:t>任务意图</a:t>
            </a:r>
            <a:r>
              <a:rPr lang="zh-CN" altLang="zh-CN" dirty="0"/>
              <a:t>决定 。</a:t>
            </a:r>
            <a:r>
              <a:rPr lang="zh-CN" altLang="en-US" dirty="0"/>
              <a:t>逼迫模型从</a:t>
            </a:r>
            <a:r>
              <a:rPr lang="en-US" altLang="zh-CN" dirty="0"/>
              <a:t>demo</a:t>
            </a:r>
            <a:r>
              <a:rPr lang="zh-CN" altLang="en-US" dirty="0"/>
              <a:t>学习任务意图</a:t>
            </a:r>
            <a:endParaRPr lang="zh-CN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A40D8-1147-9F6C-F460-4D325086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C8B485-CF42-64B7-A3D4-8EF05D8E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63056"/>
            <a:ext cx="7772400" cy="301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1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42C6-C4E1-D69F-8DB4-5D97031A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9D076-C532-AF82-7A22-76780238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9863D-E514-DCC9-8F25-9FED56E7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ICIL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Concept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RA-VLA: Retrieval-Augmented VLA for Test-Time Adaptation (ICML 2026)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vlm</a:t>
            </a:r>
            <a:r>
              <a:rPr lang="zh-CN" altLang="en-US" dirty="0"/>
              <a:t>来编码任务片段，</a:t>
            </a:r>
            <a:r>
              <a:rPr lang="en-US" altLang="zh-CN" dirty="0"/>
              <a:t>retriever</a:t>
            </a:r>
            <a:r>
              <a:rPr lang="zh-CN" altLang="en-US" dirty="0"/>
              <a:t>模块 本质上是训练了一个</a:t>
            </a:r>
            <a:r>
              <a:rPr lang="en-US" altLang="zh-CN" dirty="0" err="1"/>
              <a:t>bpp</a:t>
            </a:r>
            <a:r>
              <a:rPr lang="zh-CN" altLang="en-US" dirty="0"/>
              <a:t>的匹配模块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F1210-5AD8-2C15-A842-598DA819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5CACD4-6AAE-45AA-BFE1-5FF14A73B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0" y="2191957"/>
            <a:ext cx="7772400" cy="39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69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441A7-B4AE-A091-9885-3D12D5B7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BEBA0-9DD2-259F-E76C-3ECDD21A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2C3AA-E093-4184-5A43-1E8E06F2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原始思考：</a:t>
            </a:r>
            <a:endParaRPr lang="en-US" altLang="zh-CN" sz="2000" dirty="0"/>
          </a:p>
          <a:p>
            <a:pPr lvl="0"/>
            <a:r>
              <a:rPr lang="zh-CN" altLang="zh-CN" sz="2000" dirty="0"/>
              <a:t>要有一个网络或者模块知道：在干什么。理解prompt的总体任务意图。</a:t>
            </a:r>
            <a:endParaRPr lang="en-US" altLang="zh-CN" sz="2000" dirty="0"/>
          </a:p>
          <a:p>
            <a:pPr lvl="1"/>
            <a:r>
              <a:rPr lang="zh-CN" altLang="zh-CN" sz="1600" dirty="0"/>
              <a:t>假想实验了一下，如果一个任务是把A放到B上面。示教是A在左边B在右边，rollout是A在右边B在左边，直接根据片段来推理我觉得很可能就会抓错，抓B放到A上面。因为如果根据视觉表征，那么很可能模型看起来就是目前要抓左边的物体放到右边的物体上。（因为如果机械臂一开始往右边物体去，就像后面的片段了，而非一开始的片段）</a:t>
            </a:r>
            <a:r>
              <a:rPr lang="en-US" altLang="zh-CN" sz="1600" dirty="0"/>
              <a:t>IL</a:t>
            </a:r>
            <a:r>
              <a:rPr lang="zh-CN" altLang="en-US" sz="1600" dirty="0"/>
              <a:t>很大程度上是死记硬背的，靠惯性的。缺少这样的模块</a:t>
            </a:r>
            <a:r>
              <a:rPr lang="en-US" altLang="zh-CN" sz="1600" dirty="0"/>
              <a:t>ICIL</a:t>
            </a:r>
            <a:r>
              <a:rPr lang="zh-CN" altLang="en-US" sz="1600" dirty="0"/>
              <a:t>容易退化为</a:t>
            </a:r>
            <a:r>
              <a:rPr lang="en-US" altLang="zh-CN" sz="1600" dirty="0"/>
              <a:t>IL</a:t>
            </a:r>
            <a:endParaRPr lang="zh-CN" altLang="zh-CN" sz="1600" dirty="0"/>
          </a:p>
          <a:p>
            <a:pPr lvl="0"/>
            <a:r>
              <a:rPr lang="zh-CN" altLang="zh-CN" sz="2000" dirty="0"/>
              <a:t>要有一个模块对齐细节：看到对应任务片段，能够注意到具体的操作细节，比如怎么抓，动作原义用哪个，或者动作风格。</a:t>
            </a:r>
            <a:endParaRPr lang="en-US" altLang="zh-CN" sz="2000" dirty="0"/>
          </a:p>
          <a:p>
            <a:pPr lvl="1"/>
            <a:r>
              <a:rPr lang="zh-CN" altLang="zh-CN" sz="1600" dirty="0"/>
              <a:t>是局部性质的。因为上面的模块更多是限制了大局观，大概要操作什么物体的信息，因为有的操作可能比较精细，或者任务时间很长，只有全局模块容易导致瓶颈。</a:t>
            </a:r>
          </a:p>
          <a:p>
            <a:pPr lvl="0"/>
            <a:r>
              <a:rPr lang="zh-CN" altLang="zh-CN" sz="2000" dirty="0"/>
              <a:t>视觉相似度不能作为唯一条件。</a:t>
            </a:r>
            <a:endParaRPr lang="en-US" altLang="zh-CN" sz="2000" dirty="0"/>
          </a:p>
          <a:p>
            <a:pPr lvl="1"/>
            <a:r>
              <a:rPr lang="zh-CN" altLang="zh-CN" sz="1600" dirty="0"/>
              <a:t>还是那个A放到B物体的相似问题。错误把B放到A上的视觉相似度肯定是高于A放到B上，因为错误放只是物体内部调换顺序，而A放到B就是一摞物体本来在右边，现在任务完成是在左边了。一些工作用循环匹配的方式自监督，我觉得很可能会迫使模型纠结视觉细节，陷入视觉匹配而非语义匹配的陷阱。</a:t>
            </a:r>
          </a:p>
          <a:p>
            <a:pPr lvl="0"/>
            <a:r>
              <a:rPr lang="zh-CN" altLang="zh-CN" sz="2000" dirty="0"/>
              <a:t>动作</a:t>
            </a:r>
            <a:r>
              <a:rPr lang="zh-CN" altLang="en-US" sz="2000" dirty="0"/>
              <a:t>相关的模块需要精心设计。</a:t>
            </a:r>
            <a:endParaRPr lang="en-US" altLang="zh-CN" sz="2000" dirty="0"/>
          </a:p>
          <a:p>
            <a:pPr lvl="1"/>
            <a:r>
              <a:rPr lang="zh-CN" altLang="en-US" sz="1600" dirty="0"/>
              <a:t>我们是以动作为条件，为</a:t>
            </a:r>
            <a:r>
              <a:rPr lang="en-US" altLang="zh-CN" sz="1600" dirty="0"/>
              <a:t>prompt</a:t>
            </a:r>
            <a:r>
              <a:rPr lang="zh-CN" altLang="en-US" sz="1600" dirty="0"/>
              <a:t>，动作是非常重要的模态</a:t>
            </a:r>
            <a:endParaRPr lang="en-US" altLang="zh-CN" sz="1600" dirty="0"/>
          </a:p>
          <a:p>
            <a:pPr marL="457200" lvl="1" indent="0"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FBB968-B1AA-D276-C659-FF528372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83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118C-2782-6F53-161A-1C5D4FE4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5269F-FB94-9456-F0EB-E64C0127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pic>
        <p:nvPicPr>
          <p:cNvPr id="5" name="385_1792062604">
            <a:hlinkClick r:id="" action="ppaction://media"/>
            <a:extLst>
              <a:ext uri="{FF2B5EF4-FFF2-40B4-BE49-F238E27FC236}">
                <a16:creationId xmlns:a16="http://schemas.microsoft.com/office/drawing/2014/main" id="{118AACBA-AC0F-5976-5851-4573E5C5A0A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51021" y="1400963"/>
            <a:ext cx="5063727" cy="493713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A80947-1735-2916-A182-AF45CD90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386_1792062624">
            <a:hlinkClick r:id="" action="ppaction://media"/>
            <a:extLst>
              <a:ext uri="{FF2B5EF4-FFF2-40B4-BE49-F238E27FC236}">
                <a16:creationId xmlns:a16="http://schemas.microsoft.com/office/drawing/2014/main" id="{BACC1C27-9072-7C3D-B7E7-F44C4AFEF5F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7252" y="1308184"/>
            <a:ext cx="4545734" cy="52704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75F595B-74AC-41B3-C0F8-4DD805C7C593}"/>
              </a:ext>
            </a:extLst>
          </p:cNvPr>
          <p:cNvSpPr txBox="1"/>
          <p:nvPr/>
        </p:nvSpPr>
        <p:spPr>
          <a:xfrm>
            <a:off x="1146487" y="90402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互换颜色，无视区别，成功完成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D7440C-7AFF-7C58-B50E-DB830493C2FA}"/>
              </a:ext>
            </a:extLst>
          </p:cNvPr>
          <p:cNvSpPr txBox="1"/>
          <p:nvPr/>
        </p:nvSpPr>
        <p:spPr>
          <a:xfrm>
            <a:off x="7629195" y="100763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一样的配置甚至不行</a:t>
            </a:r>
          </a:p>
        </p:txBody>
      </p:sp>
    </p:spTree>
    <p:extLst>
      <p:ext uri="{BB962C8B-B14F-4D97-AF65-F5344CB8AC3E}">
        <p14:creationId xmlns:p14="http://schemas.microsoft.com/office/powerpoint/2010/main" val="33111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2CCA-2EB2-F1DB-DE2D-B2FE1C4C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74123-BB57-C493-88B4-5513FC1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1B478-D849-1BCC-98F7-2E1EE8C9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387_1792063283">
            <a:hlinkClick r:id="" action="ppaction://media"/>
            <a:extLst>
              <a:ext uri="{FF2B5EF4-FFF2-40B4-BE49-F238E27FC236}">
                <a16:creationId xmlns:a16="http://schemas.microsoft.com/office/drawing/2014/main" id="{DBAC9B4F-692A-D245-ED6F-E1669300316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3900" y="868363"/>
            <a:ext cx="5651500" cy="5510212"/>
          </a:xfrm>
        </p:spPr>
      </p:pic>
    </p:spTree>
    <p:extLst>
      <p:ext uri="{BB962C8B-B14F-4D97-AF65-F5344CB8AC3E}">
        <p14:creationId xmlns:p14="http://schemas.microsoft.com/office/powerpoint/2010/main" val="75458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971C7-0CFD-2783-632B-ED899F77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BAB6D-1472-9144-73EC-E8634DE2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80DDD-1E8E-52A3-2CD6-D87437BE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bpp_draw_house">
            <a:hlinkClick r:id="" action="ppaction://media"/>
            <a:extLst>
              <a:ext uri="{FF2B5EF4-FFF2-40B4-BE49-F238E27FC236}">
                <a16:creationId xmlns:a16="http://schemas.microsoft.com/office/drawing/2014/main" id="{7E825B23-5341-4B2F-4F3D-57614F22702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73261" y="916935"/>
            <a:ext cx="6068558" cy="5107653"/>
          </a:xfrm>
        </p:spPr>
      </p:pic>
      <p:pic>
        <p:nvPicPr>
          <p:cNvPr id="7" name="bpp_draw-">
            <a:hlinkClick r:id="" action="ppaction://media"/>
            <a:extLst>
              <a:ext uri="{FF2B5EF4-FFF2-40B4-BE49-F238E27FC236}">
                <a16:creationId xmlns:a16="http://schemas.microsoft.com/office/drawing/2014/main" id="{AA985D4B-4FE7-0BE6-6A47-5F92915E1EE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50181" y="124511"/>
            <a:ext cx="513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6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11D7-A0B4-1117-A0A9-D4C30BE8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2CB2F-B18E-1294-D9EF-2136C5A7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ICRT</a:t>
            </a:r>
            <a:r>
              <a:rPr lang="zh-CN" altLang="en-US" dirty="0"/>
              <a:t>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E2366-9DF5-D735-5FD8-7D12A4E9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4861877-B185-1152-9FBC-46B0C20B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作者的</a:t>
            </a:r>
            <a:r>
              <a:rPr lang="en-US" altLang="zh-CN" dirty="0"/>
              <a:t>ICRT</a:t>
            </a:r>
            <a:r>
              <a:rPr lang="zh-CN" altLang="en-US" dirty="0"/>
              <a:t>复现权重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我觉得</a:t>
            </a:r>
            <a:r>
              <a:rPr lang="en-US" altLang="zh-CN" dirty="0"/>
              <a:t>LLM</a:t>
            </a:r>
            <a:r>
              <a:rPr lang="zh-CN" altLang="en-US" dirty="0"/>
              <a:t>式（至少</a:t>
            </a:r>
            <a:r>
              <a:rPr lang="en-US" altLang="zh-CN" dirty="0"/>
              <a:t>ICRT</a:t>
            </a:r>
            <a:r>
              <a:rPr lang="zh-CN" altLang="en-US" dirty="0"/>
              <a:t>）的</a:t>
            </a:r>
            <a:r>
              <a:rPr lang="en-US" altLang="zh-CN" dirty="0"/>
              <a:t>ICIL</a:t>
            </a:r>
            <a:r>
              <a:rPr lang="zh-CN" altLang="en-US" dirty="0"/>
              <a:t>会失败：没有隔离式教和</a:t>
            </a:r>
            <a:r>
              <a:rPr lang="en-US" altLang="zh-CN" dirty="0"/>
              <a:t>rollout</a:t>
            </a:r>
          </a:p>
          <a:p>
            <a:r>
              <a:rPr lang="zh-CN" altLang="en-US" dirty="0"/>
              <a:t>本质上预测是基于示教的翻译，但是却不告诉模型从哪里翻译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E08D41-A751-09A8-B750-459D70DD2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67925"/>
            <a:ext cx="4691033" cy="30411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44CA98-1CFE-5A6D-10CA-AFBC7B94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540" y="1720726"/>
            <a:ext cx="6396338" cy="27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9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95E2-5352-0F8B-814C-6DA19F49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93140-3811-2244-41A6-3FA0740E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B9B80-858A-5487-E256-F16CBD2BE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update</a:t>
            </a:r>
            <a:r>
              <a:rPr lang="zh-CN" altLang="en-US" sz="2000" dirty="0"/>
              <a:t>思考：</a:t>
            </a:r>
            <a:endParaRPr lang="en-US" altLang="zh-CN" sz="2000" dirty="0"/>
          </a:p>
          <a:p>
            <a:r>
              <a:rPr lang="zh-CN" altLang="en-US" sz="2000" dirty="0"/>
              <a:t>论文里面常用的技巧：注意力机制，基于视觉匹配，</a:t>
            </a:r>
            <a:r>
              <a:rPr lang="en-US" altLang="zh-CN" sz="2000" dirty="0"/>
              <a:t>TCC</a:t>
            </a:r>
            <a:r>
              <a:rPr lang="zh-CN" altLang="en-US" sz="2000" dirty="0"/>
              <a:t>假设，对比学习</a:t>
            </a:r>
            <a:endParaRPr lang="en-US" altLang="zh-CN" sz="2000" dirty="0"/>
          </a:p>
          <a:p>
            <a:r>
              <a:rPr lang="zh-CN" altLang="zh-CN" sz="2000" dirty="0"/>
              <a:t>结合我之前的动作原义想法，我觉得可以有一个模块，不是用视觉来对齐进度，而是用动作来对齐进度。比如能把自己的动作映射回示教对应的动作。</a:t>
            </a:r>
            <a:br>
              <a:rPr lang="zh-CN" altLang="zh-CN" sz="2000" dirty="0"/>
            </a:br>
            <a:r>
              <a:rPr lang="zh-CN" altLang="zh-CN" sz="2000" dirty="0"/>
              <a:t>这个我觉得需要模型能够提取出动作原义才能完成。比如同样执行抓取任务，一个示教东西在左边，一个示教东西在右边。我对这个模块期望，去够物体的时候，往左走和往右走的动作是被映射到一起的，并且他们都是“伸手去够东西”的动作。但是我想到两个难点：</a:t>
            </a:r>
          </a:p>
          <a:p>
            <a:pPr lvl="1"/>
            <a:r>
              <a:rPr lang="zh-CN" altLang="zh-CN" sz="1600" dirty="0"/>
              <a:t>监督信号从哪里来</a:t>
            </a:r>
          </a:p>
          <a:p>
            <a:pPr lvl="1"/>
            <a:r>
              <a:rPr lang="zh-CN" altLang="zh-CN" sz="1600" dirty="0"/>
              <a:t>其实去“够东西”这件事情是有语义信息的，同样手往右移动，可以是为了移动到操作位置，也可以是在推东西，也可以就是空挥。一模一样的动作可以有很多解释，所以这个动作模块是需要结合上下文之类的。</a:t>
            </a:r>
            <a:r>
              <a:rPr lang="zh-CN" altLang="en-US" sz="1600" dirty="0"/>
              <a:t>上下文又只能通过视觉来，那可能又退化了？</a:t>
            </a:r>
            <a:endParaRPr lang="zh-CN" altLang="zh-CN" sz="1600" dirty="0"/>
          </a:p>
          <a:p>
            <a:r>
              <a:rPr lang="zh-CN" altLang="zh-CN" sz="2000" dirty="0"/>
              <a:t>视觉匹配的</a:t>
            </a:r>
            <a:r>
              <a:rPr lang="zh-CN" altLang="en-US" sz="2000" dirty="0"/>
              <a:t>另</a:t>
            </a:r>
            <a:r>
              <a:rPr lang="zh-CN" altLang="zh-CN" sz="2000" dirty="0"/>
              <a:t>一个问题</a:t>
            </a:r>
            <a:r>
              <a:rPr lang="zh-CN" altLang="en-US" sz="2000" dirty="0"/>
              <a:t>（几乎所有论文都这么做）</a:t>
            </a:r>
            <a:r>
              <a:rPr lang="zh-CN" altLang="zh-CN" sz="2000" dirty="0"/>
              <a:t>。比如我原地画圈10圈，纯视觉完全没有办法辨别转第五圈和第六圈的区别。所以需要一个信息载体来记忆做了什么。而做了什么应该是动作主导的，不是我“看过这个画面”，而是“我知道我转了一圈”。</a:t>
            </a:r>
            <a:endParaRPr lang="en-US" altLang="zh-CN" sz="2000" dirty="0"/>
          </a:p>
          <a:p>
            <a:r>
              <a:rPr lang="zh-CN" altLang="en-US" sz="2000" dirty="0"/>
              <a:t>但是上述例子是有强语义奇异性的。“随便转大于</a:t>
            </a:r>
            <a:r>
              <a:rPr lang="en-US" altLang="zh-CN" sz="2000" dirty="0"/>
              <a:t>5</a:t>
            </a:r>
            <a:r>
              <a:rPr lang="zh-CN" altLang="en-US" sz="2000" dirty="0"/>
              <a:t>圈”“转</a:t>
            </a:r>
            <a:r>
              <a:rPr lang="en-US" altLang="zh-CN" sz="2000" dirty="0"/>
              <a:t>6</a:t>
            </a:r>
            <a:r>
              <a:rPr lang="zh-CN" altLang="en-US" sz="2000" dirty="0"/>
              <a:t>圈”。</a:t>
            </a:r>
            <a:endParaRPr lang="en-US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pPr lvl="0"/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BFA131-41D9-B21E-ABBB-2FC6BD13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83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15A8-F93F-6506-C81C-251AB22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25605-E30A-D55B-AED9-D8CAFAE9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9CFE0-7035-33F2-A35A-88C0C31E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想法汇总：</a:t>
            </a:r>
            <a:endParaRPr lang="en-US" altLang="zh-CN" sz="2400" dirty="0"/>
          </a:p>
          <a:p>
            <a:r>
              <a:rPr lang="zh-CN" altLang="en-US" sz="2400" dirty="0"/>
              <a:t>要达成理想状态下的</a:t>
            </a:r>
            <a:r>
              <a:rPr lang="en-US" altLang="zh-CN" sz="2400" dirty="0"/>
              <a:t>ICIL</a:t>
            </a:r>
            <a:r>
              <a:rPr lang="zh-CN" altLang="en-US" sz="2400" dirty="0"/>
              <a:t>：看一眼懂意图，不用说也知道各种操作怎么做（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human</a:t>
            </a:r>
            <a:r>
              <a:rPr lang="zh-CN" altLang="en-US" sz="2400" dirty="0"/>
              <a:t>）有进度记忆。需要强大的先验知识（意图理解与动作先验）和合理的记忆设计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目前来看最好下手的是记忆模块设计</a:t>
            </a:r>
            <a:endParaRPr lang="en-US" altLang="zh-CN" sz="2400" dirty="0"/>
          </a:p>
          <a:p>
            <a:r>
              <a:rPr lang="zh-CN" altLang="en-US" sz="2400" dirty="0"/>
              <a:t>我个人很欣赏对比学习的范式，在这个场景下标签是不存在的。但是如何应用在这里的场景（学习什么？怎么界定动作先验和意图先验？）数据来源多样性也是个问题</a:t>
            </a:r>
            <a:endParaRPr lang="zh-CN" altLang="zh-CN" sz="2400" dirty="0"/>
          </a:p>
          <a:p>
            <a:pPr lvl="0"/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457200" lvl="1" indent="0">
              <a:buNone/>
            </a:pP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E27CB-15FB-80A3-5491-F2C8118B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518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98B8C6-F215-45FF-AAC2-618BECF6E5E9}"/>
              </a:ext>
            </a:extLst>
          </p:cNvPr>
          <p:cNvSpPr/>
          <p:nvPr/>
        </p:nvSpPr>
        <p:spPr>
          <a:xfrm>
            <a:off x="0" y="1684224"/>
            <a:ext cx="12192002" cy="2487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72799" y="414700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>
            <a:off x="0" y="863996"/>
            <a:ext cx="49330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BA289117-A229-429C-9C25-E8A79F91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99" y="2389357"/>
            <a:ext cx="11201400" cy="1490527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谢谢聆听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ECB864D-0EE8-493B-8DBD-67B5548FA600}"/>
              </a:ext>
            </a:extLst>
          </p:cNvPr>
          <p:cNvCxnSpPr>
            <a:cxnSpLocks/>
            <a:endCxn id="8" idx="27"/>
          </p:cNvCxnSpPr>
          <p:nvPr/>
        </p:nvCxnSpPr>
        <p:spPr>
          <a:xfrm flipH="1">
            <a:off x="7519202" y="860045"/>
            <a:ext cx="467279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7FA4304-7F76-9374-B8DE-B9490AB8F9BA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9" name="图片 18" descr="文本&#10;&#10;中度可信度描述已自动生成">
            <a:extLst>
              <a:ext uri="{FF2B5EF4-FFF2-40B4-BE49-F238E27FC236}">
                <a16:creationId xmlns:a16="http://schemas.microsoft.com/office/drawing/2014/main" id="{1853B1BB-953A-750D-41F7-84A22B19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6304948"/>
            <a:ext cx="1706880" cy="56112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FAB41F6-BBE9-6E79-A2DA-46D34D600BB8}"/>
              </a:ext>
            </a:extLst>
          </p:cNvPr>
          <p:cNvSpPr txBox="1"/>
          <p:nvPr/>
        </p:nvSpPr>
        <p:spPr>
          <a:xfrm>
            <a:off x="10114357" y="6423221"/>
            <a:ext cx="195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irmv.sjtu.edu.cn</a:t>
            </a:r>
          </a:p>
        </p:txBody>
      </p:sp>
      <p:pic>
        <p:nvPicPr>
          <p:cNvPr id="24" name="图片 23" descr="文本&#10;&#10;描述已自动生成">
            <a:extLst>
              <a:ext uri="{FF2B5EF4-FFF2-40B4-BE49-F238E27FC236}">
                <a16:creationId xmlns:a16="http://schemas.microsoft.com/office/drawing/2014/main" id="{DF67D37D-1DA2-0419-B1FE-D2257D9BB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46" y="6005699"/>
            <a:ext cx="3412754" cy="11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081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42508</TotalTime>
  <Words>1650</Words>
  <Application>Microsoft Macintosh PowerPoint</Application>
  <PresentationFormat>宽屏</PresentationFormat>
  <Paragraphs>138</Paragraphs>
  <Slides>19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微软雅黑</vt:lpstr>
      <vt:lpstr>Arial</vt:lpstr>
      <vt:lpstr>Cambria Math</vt:lpstr>
      <vt:lpstr>Office 主题​​</vt:lpstr>
      <vt:lpstr>ICIL</vt:lpstr>
      <vt:lpstr>In Context Imitation Learning</vt:lpstr>
      <vt:lpstr>In Context Imitation Learning</vt:lpstr>
      <vt:lpstr>In Context Imitation Learning</vt:lpstr>
      <vt:lpstr>In Context Imitation Learning</vt:lpstr>
      <vt:lpstr>In Context Imitation Learning</vt:lpstr>
      <vt:lpstr>In Context Imitation Learning</vt:lpstr>
      <vt:lpstr>ICIL</vt:lpstr>
      <vt:lpstr>ICIL</vt:lpstr>
      <vt:lpstr>ICIL</vt:lpstr>
      <vt:lpstr>ICIL</vt:lpstr>
      <vt:lpstr>ICIL</vt:lpstr>
      <vt:lpstr>BPP 复现实验</vt:lpstr>
      <vt:lpstr>BPP 复现实验</vt:lpstr>
      <vt:lpstr>BPP 复现实验</vt:lpstr>
      <vt:lpstr>ICRT复现实验</vt:lpstr>
      <vt:lpstr>ICIL</vt:lpstr>
      <vt:lpstr>ICIL</vt:lpstr>
      <vt:lpstr>谢谢聆听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毅昕 吴</cp:lastModifiedBy>
  <cp:revision>196</cp:revision>
  <dcterms:created xsi:type="dcterms:W3CDTF">2021-12-04T09:40:10Z</dcterms:created>
  <dcterms:modified xsi:type="dcterms:W3CDTF">2026-10-22T08:32:02Z</dcterms:modified>
  <cp:contentStatus/>
</cp:coreProperties>
</file>